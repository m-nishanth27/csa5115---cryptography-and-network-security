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"/>
    <p:sldId id="292" r:id="rId3"/>
    <p:sldId id="257" r:id="rId4"/>
    <p:sldId id="302" r:id="rId5"/>
    <p:sldId id="307" r:id="rId6"/>
    <p:sldId id="295" r:id="rId7"/>
    <p:sldId id="300" r:id="rId8"/>
    <p:sldId id="304" r:id="rId9"/>
    <p:sldId id="305" r:id="rId10"/>
    <p:sldId id="306" r:id="rId11"/>
    <p:sldId id="275" r:id="rId12"/>
    <p:sldId id="285" r:id="rId13"/>
    <p:sldId id="296" r:id="rId14"/>
    <p:sldId id="308" r:id="rId15"/>
    <p:sldId id="301" r:id="rId16"/>
    <p:sldId id="309" r:id="rId17"/>
    <p:sldId id="303" r:id="rId18"/>
    <p:sldId id="268" r:id="rId19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AFCA7B-39C1-48DD-A7A3-B33ED91B7479}" v="19" dt="2026-08-28T09:55:27.795"/>
  </p1510:revLst>
</p1510:revInfo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79" d="100"/>
          <a:sy n="79" d="100"/>
        </p:scale>
        <p:origin x="77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SHANTHYADAV547@outlook.com" userId="82db173cf4d6fa30" providerId="LiveId" clId="{CE6D2313-C443-4641-955B-7FBC01B0589C}"/>
    <pc:docChg chg="custSel modSld">
      <pc:chgData name="NISHANTHYADAV547@outlook.com" userId="82db173cf4d6fa30" providerId="LiveId" clId="{CE6D2313-C443-4641-955B-7FBC01B0589C}" dt="2026-08-28T09:55:56.039" v="45" actId="14100"/>
      <pc:docMkLst>
        <pc:docMk/>
      </pc:docMkLst>
      <pc:sldChg chg="modSp mod">
        <pc:chgData name="NISHANTHYADAV547@outlook.com" userId="82db173cf4d6fa30" providerId="LiveId" clId="{CE6D2313-C443-4641-955B-7FBC01B0589C}" dt="2026-08-28T09:53:41.021" v="32" actId="1076"/>
        <pc:sldMkLst>
          <pc:docMk/>
          <pc:sldMk cId="109857222" sldId="256"/>
        </pc:sldMkLst>
        <pc:spChg chg="mod">
          <ac:chgData name="NISHANTHYADAV547@outlook.com" userId="82db173cf4d6fa30" providerId="LiveId" clId="{CE6D2313-C443-4641-955B-7FBC01B0589C}" dt="2026-08-28T09:53:31.938" v="30" actId="1076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NISHANTHYADAV547@outlook.com" userId="82db173cf4d6fa30" providerId="LiveId" clId="{CE6D2313-C443-4641-955B-7FBC01B0589C}" dt="2026-08-28T09:53:41.021" v="32" actId="1076"/>
          <ac:spMkLst>
            <pc:docMk/>
            <pc:sldMk cId="109857222" sldId="256"/>
            <ac:spMk id="3" creationId="{00000000-0000-0000-0000-000000000000}"/>
          </ac:spMkLst>
        </pc:spChg>
        <pc:spChg chg="mod">
          <ac:chgData name="NISHANTHYADAV547@outlook.com" userId="82db173cf4d6fa30" providerId="LiveId" clId="{CE6D2313-C443-4641-955B-7FBC01B0589C}" dt="2026-08-28T09:53:35.487" v="31" actId="1076"/>
          <ac:spMkLst>
            <pc:docMk/>
            <pc:sldMk cId="109857222" sldId="256"/>
            <ac:spMk id="4" creationId="{86E1FEFD-ED6D-4602-95D5-16DC22633317}"/>
          </ac:spMkLst>
        </pc:spChg>
        <pc:spChg chg="mod">
          <ac:chgData name="NISHANTHYADAV547@outlook.com" userId="82db173cf4d6fa30" providerId="LiveId" clId="{CE6D2313-C443-4641-955B-7FBC01B0589C}" dt="2026-08-28T09:53:22.728" v="29" actId="1076"/>
          <ac:spMkLst>
            <pc:docMk/>
            <pc:sldMk cId="109857222" sldId="256"/>
            <ac:spMk id="8" creationId="{DE8A4495-7524-6F2E-1A78-CC4179BD20D9}"/>
          </ac:spMkLst>
        </pc:spChg>
      </pc:sldChg>
      <pc:sldChg chg="addSp delSp modSp mod">
        <pc:chgData name="NISHANTHYADAV547@outlook.com" userId="82db173cf4d6fa30" providerId="LiveId" clId="{CE6D2313-C443-4641-955B-7FBC01B0589C}" dt="2026-08-28T09:55:56.039" v="45" actId="14100"/>
        <pc:sldMkLst>
          <pc:docMk/>
          <pc:sldMk cId="3872366312" sldId="268"/>
        </pc:sldMkLst>
        <pc:picChg chg="add del mod">
          <ac:chgData name="NISHANTHYADAV547@outlook.com" userId="82db173cf4d6fa30" providerId="LiveId" clId="{CE6D2313-C443-4641-955B-7FBC01B0589C}" dt="2026-08-28T09:55:03.581" v="37" actId="478"/>
          <ac:picMkLst>
            <pc:docMk/>
            <pc:sldMk cId="3872366312" sldId="268"/>
            <ac:picMk id="11" creationId="{8AC1D3EB-6AE5-788F-526B-98ADA0A6EDB5}"/>
          </ac:picMkLst>
        </pc:picChg>
        <pc:picChg chg="del">
          <ac:chgData name="NISHANTHYADAV547@outlook.com" userId="82db173cf4d6fa30" providerId="LiveId" clId="{CE6D2313-C443-4641-955B-7FBC01B0589C}" dt="2026-08-28T09:54:10.273" v="33" actId="478"/>
          <ac:picMkLst>
            <pc:docMk/>
            <pc:sldMk cId="3872366312" sldId="268"/>
            <ac:picMk id="12" creationId="{938063B1-88B2-ED52-DB62-7A3BC8720C72}"/>
          </ac:picMkLst>
        </pc:picChg>
        <pc:picChg chg="add del mod">
          <ac:chgData name="NISHANTHYADAV547@outlook.com" userId="82db173cf4d6fa30" providerId="LiveId" clId="{CE6D2313-C443-4641-955B-7FBC01B0589C}" dt="2026-08-28T09:55:03.581" v="37" actId="478"/>
          <ac:picMkLst>
            <pc:docMk/>
            <pc:sldMk cId="3872366312" sldId="268"/>
            <ac:picMk id="14" creationId="{A9BD5A72-9AF1-E728-921D-004E8C67F95F}"/>
          </ac:picMkLst>
        </pc:picChg>
        <pc:picChg chg="add mod">
          <ac:chgData name="NISHANTHYADAV547@outlook.com" userId="82db173cf4d6fa30" providerId="LiveId" clId="{CE6D2313-C443-4641-955B-7FBC01B0589C}" dt="2026-08-28T09:55:56.039" v="45" actId="14100"/>
          <ac:picMkLst>
            <pc:docMk/>
            <pc:sldMk cId="3872366312" sldId="268"/>
            <ac:picMk id="16" creationId="{C73F0E90-1EC8-FCF3-CEB0-8FE176129676}"/>
          </ac:picMkLst>
        </pc:picChg>
      </pc:sldChg>
      <pc:sldChg chg="addSp modSp mod">
        <pc:chgData name="NISHANTHYADAV547@outlook.com" userId="82db173cf4d6fa30" providerId="LiveId" clId="{CE6D2313-C443-4641-955B-7FBC01B0589C}" dt="2026-08-28T09:50:27.065" v="9" actId="1076"/>
        <pc:sldMkLst>
          <pc:docMk/>
          <pc:sldMk cId="3210431184" sldId="292"/>
        </pc:sldMkLst>
        <pc:spChg chg="mod">
          <ac:chgData name="NISHANTHYADAV547@outlook.com" userId="82db173cf4d6fa30" providerId="LiveId" clId="{CE6D2313-C443-4641-955B-7FBC01B0589C}" dt="2026-08-28T09:50:22.534" v="7" actId="1076"/>
          <ac:spMkLst>
            <pc:docMk/>
            <pc:sldMk cId="3210431184" sldId="292"/>
            <ac:spMk id="6" creationId="{2F7ABF43-27F1-398A-A8DD-ADD9A7F4C4EB}"/>
          </ac:spMkLst>
        </pc:spChg>
        <pc:picChg chg="add mod modCrop">
          <ac:chgData name="NISHANTHYADAV547@outlook.com" userId="82db173cf4d6fa30" providerId="LiveId" clId="{CE6D2313-C443-4641-955B-7FBC01B0589C}" dt="2026-08-28T09:50:27.065" v="9" actId="1076"/>
          <ac:picMkLst>
            <pc:docMk/>
            <pc:sldMk cId="3210431184" sldId="292"/>
            <ac:picMk id="7" creationId="{814765D2-9D7C-9549-337F-2C47A3A3454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A119E2-37C5-49CB-BB67-49A47B038215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DC0DB3-C0F6-499D-897D-A4A18D45A7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3847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FED64-E136-FBDE-B459-608AA5287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D8D497-E2A0-CD8E-8E0A-1F93E53C2B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11C06A-A10D-9E80-B5C4-CF2E70109E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F9305B-49F3-7B6D-931A-7B522D659B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1265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5890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371/journal.pone.0324182?utm_source=chatgpt.com" TargetMode="External"/><Relationship Id="rId2" Type="http://schemas.openxmlformats.org/officeDocument/2006/relationships/hyperlink" Target="https://doi.org/10.1038/s41598-025-16764-1?utm_source=chatgpt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https://doi.org/10.1145/3777555.3777570?utm_source=chatgpt.com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pixabay.com/illustrations/thank-you-thanks-end-text-sign-489376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06330"/>
            <a:ext cx="12192000" cy="2222456"/>
          </a:xfrm>
        </p:spPr>
        <p:txBody>
          <a:bodyPr>
            <a:noAutofit/>
          </a:bodyPr>
          <a:lstStyle/>
          <a:p>
            <a:br>
              <a:rPr 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CSA5115-CRYPTOGRAPHY NETWORK SECURITY</a:t>
            </a:r>
            <a:endParaRPr lang="en-GB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67644" y="4826813"/>
            <a:ext cx="4444266" cy="1049713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GB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</a:t>
            </a:r>
          </a:p>
          <a:p>
            <a:pPr>
              <a:lnSpc>
                <a:spcPct val="100000"/>
              </a:lnSpc>
            </a:pPr>
            <a:r>
              <a:rPr lang="en-GB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Dr. T. SANGEETHA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C7B7E2-CC0E-4886-62FC-C2BD9C88EE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399" y="249791"/>
            <a:ext cx="10841421" cy="1291679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86E1FEFD-ED6D-4602-95D5-16DC22633317}"/>
              </a:ext>
            </a:extLst>
          </p:cNvPr>
          <p:cNvSpPr txBox="1">
            <a:spLocks/>
          </p:cNvSpPr>
          <p:nvPr/>
        </p:nvSpPr>
        <p:spPr>
          <a:xfrm>
            <a:off x="419648" y="4243203"/>
            <a:ext cx="5232764" cy="235207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endParaRPr lang="en-GB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GB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M. NISHANTH (192511154)</a:t>
            </a:r>
          </a:p>
          <a:p>
            <a:pPr>
              <a:lnSpc>
                <a:spcPct val="100000"/>
              </a:lnSpc>
            </a:pPr>
            <a:r>
              <a:rPr lang="en-GB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 Meghanadh (192372281)</a:t>
            </a:r>
          </a:p>
          <a:p>
            <a:pPr>
              <a:lnSpc>
                <a:spcPct val="100000"/>
              </a:lnSpc>
            </a:pPr>
            <a:r>
              <a:rPr lang="en-GB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 Charan Sai (192372003)</a:t>
            </a:r>
          </a:p>
          <a:p>
            <a:pPr>
              <a:lnSpc>
                <a:spcPct val="100000"/>
              </a:lnSpc>
            </a:pPr>
            <a:r>
              <a:rPr lang="sv-SE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Ch.Mahi Vardhan Reddy (192411210)</a:t>
            </a:r>
            <a:endParaRPr lang="en-GB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GB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GB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GB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GB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GB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8A4495-7524-6F2E-1A78-CC4179BD20D9}"/>
              </a:ext>
            </a:extLst>
          </p:cNvPr>
          <p:cNvSpPr txBox="1"/>
          <p:nvPr/>
        </p:nvSpPr>
        <p:spPr>
          <a:xfrm>
            <a:off x="1416156" y="2055887"/>
            <a:ext cx="9075906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SECURE ONLINE VOTING SYSTEM USING CRYPTOGRAPHY</a:t>
            </a:r>
            <a:endParaRPr lang="en-IN" sz="28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28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fontAlgn="ctr">
              <a:defRPr/>
            </a:pPr>
            <a:endParaRPr lang="en-IN" sz="40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579B7-138C-CC07-E749-83BB8CA6F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63CCE-C98A-19C0-E04C-9CEFAA0CC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1251" y="278756"/>
            <a:ext cx="9082687" cy="1018199"/>
          </a:xfrm>
        </p:spPr>
        <p:txBody>
          <a:bodyPr>
            <a:noAutofit/>
          </a:bodyPr>
          <a:lstStyle/>
          <a:p>
            <a:pPr algn="ctr"/>
            <a:r>
              <a:rPr lang="en-GB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E478B9-D405-E792-E578-2D144E5983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15" y="278756"/>
            <a:ext cx="1123719" cy="1095700"/>
          </a:xfrm>
          <a:prstGeom prst="rect">
            <a:avLst/>
          </a:prstGeom>
        </p:spPr>
      </p:pic>
      <p:pic>
        <p:nvPicPr>
          <p:cNvPr id="5" name="Picture 4" descr="A blue and green logo&#10;&#10;AI-generated content may be incorrect.">
            <a:extLst>
              <a:ext uri="{FF2B5EF4-FFF2-40B4-BE49-F238E27FC236}">
                <a16:creationId xmlns:a16="http://schemas.microsoft.com/office/drawing/2014/main" id="{0FE66F75-6F3B-0E80-E4A4-35523094E2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3938" y="206829"/>
            <a:ext cx="1185747" cy="11676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F7ABF43-27F1-398A-A8DD-ADD9A7F4C4EB}"/>
              </a:ext>
            </a:extLst>
          </p:cNvPr>
          <p:cNvSpPr txBox="1"/>
          <p:nvPr/>
        </p:nvSpPr>
        <p:spPr>
          <a:xfrm>
            <a:off x="4624477" y="2171341"/>
            <a:ext cx="724620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voting makes the voting process easy and fast.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and privacy are important in online voting.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Votes must be protected from unauthorized access and tampering.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project provides 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Online Voting System Using Cryptography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RSA encryption is used to secure the votes.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signatures verify the authenticity of votes.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securely counts votes and generates results.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4765D2-9D7C-9549-337F-2C47A3A3454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4523" t="75461"/>
          <a:stretch>
            <a:fillRect/>
          </a:stretch>
        </p:blipFill>
        <p:spPr>
          <a:xfrm>
            <a:off x="182315" y="2684834"/>
            <a:ext cx="4378090" cy="2811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431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F2749-8671-0FB1-82D3-5C757C775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0204" y="278756"/>
            <a:ext cx="6605081" cy="1018199"/>
          </a:xfrm>
        </p:spPr>
        <p:txBody>
          <a:bodyPr>
            <a:normAutofit/>
          </a:bodyPr>
          <a:lstStyle/>
          <a:p>
            <a:pPr algn="ctr"/>
            <a:r>
              <a:rPr lang="en-GB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61E749-B673-FFE1-6FBF-56881E674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15" y="278756"/>
            <a:ext cx="1123719" cy="1095700"/>
          </a:xfrm>
          <a:prstGeom prst="rect">
            <a:avLst/>
          </a:prstGeom>
        </p:spPr>
      </p:pic>
      <p:pic>
        <p:nvPicPr>
          <p:cNvPr id="5" name="Picture 4" descr="A blue and green logo&#10;&#10;AI-generated content may be incorrect.">
            <a:extLst>
              <a:ext uri="{FF2B5EF4-FFF2-40B4-BE49-F238E27FC236}">
                <a16:creationId xmlns:a16="http://schemas.microsoft.com/office/drawing/2014/main" id="{7A65BDC1-BF8D-8153-5D45-6FE1A848A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3938" y="206829"/>
            <a:ext cx="1185747" cy="11676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1FFE5D5-3181-739C-79C6-77FE9641FD9D}"/>
              </a:ext>
            </a:extLst>
          </p:cNvPr>
          <p:cNvSpPr txBox="1"/>
          <p:nvPr/>
        </p:nvSpPr>
        <p:spPr>
          <a:xfrm>
            <a:off x="538264" y="1789255"/>
            <a:ext cx="729250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voting systems can face security and privacy issues.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Unauthorized users may attempt to access the voting system.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Votes can be modified or tampered with during transmission or storage.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voting may affect the accuracy of election results.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Voter identity and vote confidentiality must be protected.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secure system is needed to ensure safe and reliable online voting.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4D14C81-0B40-0E0B-1C0E-5E76BBF9464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74933" b="72624"/>
          <a:stretch>
            <a:fillRect/>
          </a:stretch>
        </p:blipFill>
        <p:spPr>
          <a:xfrm>
            <a:off x="7927231" y="2313843"/>
            <a:ext cx="4130337" cy="3007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962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55753-4FA9-64E5-65BA-FAE34ECB0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IN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5B3D6-4FF6-CB9F-0209-D7BDD0E20D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9337" y="2141537"/>
            <a:ext cx="7250348" cy="4351338"/>
          </a:xfrm>
        </p:spPr>
        <p:txBody>
          <a:bodyPr>
            <a:normAutofit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secure online voting system.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register and authenticate eligible voters.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protect votes using RSA encryption.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verify vote authenticity using digital signatures.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prevent unauthorized and duplicate voting.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securely count votes and generate accurate results. 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32EBD9-EB44-907C-ABF1-CB13CB786A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15" y="278756"/>
            <a:ext cx="1123719" cy="1095700"/>
          </a:xfrm>
          <a:prstGeom prst="rect">
            <a:avLst/>
          </a:prstGeom>
        </p:spPr>
      </p:pic>
      <p:pic>
        <p:nvPicPr>
          <p:cNvPr id="8" name="Picture 7" descr="A blue and green logo&#10;&#10;AI-generated content may be incorrect.">
            <a:extLst>
              <a:ext uri="{FF2B5EF4-FFF2-40B4-BE49-F238E27FC236}">
                <a16:creationId xmlns:a16="http://schemas.microsoft.com/office/drawing/2014/main" id="{E4F80C76-757F-01DD-701F-34493E774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3938" y="206829"/>
            <a:ext cx="1185747" cy="116762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9FB1263-0B75-0EB0-2443-043FC0E6808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689" r="50000" b="72766"/>
          <a:stretch>
            <a:fillRect/>
          </a:stretch>
        </p:blipFill>
        <p:spPr>
          <a:xfrm>
            <a:off x="301558" y="2432694"/>
            <a:ext cx="4162232" cy="2985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007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08210-12E0-3E00-54D5-C6E5BBB89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SYSTEM OVERVIEW</a:t>
            </a:r>
            <a:br>
              <a:rPr lang="en-IN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E2E6E-111F-9F5A-AA8D-C2C6AD8DF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911" y="2593437"/>
            <a:ext cx="7965332" cy="3670502"/>
          </a:xfrm>
        </p:spPr>
        <p:txBody>
          <a:bodyPr>
            <a:normAutofit fontScale="92500"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a secure platform for online voting.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Voters must register before participating in the election.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authorized voters are allowed to cast their votes.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Votes are protected using RSA-based encryption.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signatures are verified to ensure vote authenticity.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 votes are securely counted to generate the final results.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9E6790-4D9F-223E-72DB-182653616A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15" y="278756"/>
            <a:ext cx="1123719" cy="1095700"/>
          </a:xfrm>
          <a:prstGeom prst="rect">
            <a:avLst/>
          </a:prstGeom>
        </p:spPr>
      </p:pic>
      <p:pic>
        <p:nvPicPr>
          <p:cNvPr id="7" name="Picture 6" descr="A blue and green logo&#10;&#10;AI-generated content may be incorrect.">
            <a:extLst>
              <a:ext uri="{FF2B5EF4-FFF2-40B4-BE49-F238E27FC236}">
                <a16:creationId xmlns:a16="http://schemas.microsoft.com/office/drawing/2014/main" id="{A953394A-B4D2-2028-E519-37AA411C72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3938" y="206829"/>
            <a:ext cx="1185747" cy="116762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3A9971E-6D7D-15C7-BA15-C571AE41C0B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000" r="25382" b="73050"/>
          <a:stretch>
            <a:fillRect/>
          </a:stretch>
        </p:blipFill>
        <p:spPr>
          <a:xfrm>
            <a:off x="8239519" y="3101138"/>
            <a:ext cx="3637953" cy="265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926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854DD-E48D-BBC6-F41E-2151B5C1F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BAFC6-7635-7B4B-FBE2-755E8FDE1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9041" y="414335"/>
            <a:ext cx="8601817" cy="886997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  <a:endParaRPr lang="en-GB" sz="36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A47194-0EC6-32DA-9A11-DF3076CB5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66" y="341214"/>
            <a:ext cx="1030665" cy="1033242"/>
          </a:xfrm>
          <a:prstGeom prst="rect">
            <a:avLst/>
          </a:prstGeom>
        </p:spPr>
      </p:pic>
      <p:pic>
        <p:nvPicPr>
          <p:cNvPr id="6" name="Picture 5" descr="A blue and green logo&#10;&#10;AI-generated content may be incorrect.">
            <a:extLst>
              <a:ext uri="{FF2B5EF4-FFF2-40B4-BE49-F238E27FC236}">
                <a16:creationId xmlns:a16="http://schemas.microsoft.com/office/drawing/2014/main" id="{2B4A6052-7AE2-DB28-6241-43EE877C26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1342" y="274021"/>
            <a:ext cx="1185747" cy="11676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6A1AAE5-8CFA-3B6A-71CD-8A0203AA277D}"/>
              </a:ext>
            </a:extLst>
          </p:cNvPr>
          <p:cNvSpPr txBox="1"/>
          <p:nvPr/>
        </p:nvSpPr>
        <p:spPr>
          <a:xfrm>
            <a:off x="575027" y="1192002"/>
            <a:ext cx="6637382" cy="1111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0A9D4E-E29E-E30E-B386-988F80C468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0990" y="1651528"/>
            <a:ext cx="7530019" cy="5020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048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92DB3-FDFD-4065-68CC-F5F7799DE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B4D55-E75D-BF2D-C535-B3179B129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703" y="274999"/>
            <a:ext cx="9170236" cy="1018199"/>
          </a:xfrm>
        </p:spPr>
        <p:txBody>
          <a:bodyPr>
            <a:normAutofit/>
          </a:bodyPr>
          <a:lstStyle/>
          <a:p>
            <a:pPr algn="ctr"/>
            <a:r>
              <a:rPr lang="en-GB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SYSTEM WORKFLOW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645480-EE08-7054-FCA3-F285396D34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15" y="278756"/>
            <a:ext cx="1123719" cy="1095700"/>
          </a:xfrm>
          <a:prstGeom prst="rect">
            <a:avLst/>
          </a:prstGeom>
        </p:spPr>
      </p:pic>
      <p:pic>
        <p:nvPicPr>
          <p:cNvPr id="5" name="Picture 4" descr="A blue and green logo&#10;&#10;AI-generated content may be incorrect.">
            <a:extLst>
              <a:ext uri="{FF2B5EF4-FFF2-40B4-BE49-F238E27FC236}">
                <a16:creationId xmlns:a16="http://schemas.microsoft.com/office/drawing/2014/main" id="{8BD6FB9D-6085-96DE-1721-6F68D01C7C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3938" y="206829"/>
            <a:ext cx="1185747" cy="11676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81CD91-183B-4D68-6CFE-EC9285554B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315" y="2121927"/>
            <a:ext cx="5847250" cy="389816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1A95A1A-DBA0-FA8B-8BAA-83861DA09FB8}"/>
              </a:ext>
            </a:extLst>
          </p:cNvPr>
          <p:cNvSpPr txBox="1"/>
          <p:nvPr/>
        </p:nvSpPr>
        <p:spPr>
          <a:xfrm>
            <a:off x="6096000" y="2301208"/>
            <a:ext cx="609437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voter registers in the system.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voter logs in using valid credentials.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voter selects a candidate and casts the vote.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vote is encrypted using RSA encryption.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digital signature is verified for authenticity.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encrypted vote is stored securely.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 votes are counted and results are generated.</a:t>
            </a:r>
          </a:p>
        </p:txBody>
      </p:sp>
    </p:spTree>
    <p:extLst>
      <p:ext uri="{BB962C8B-B14F-4D97-AF65-F5344CB8AC3E}">
        <p14:creationId xmlns:p14="http://schemas.microsoft.com/office/powerpoint/2010/main" val="3467259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3A261-02EB-8E8F-6ADF-6DC6F98EF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6698" y="836579"/>
            <a:ext cx="8521430" cy="795497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MODULE 1 :VOTER REGISTRATION</a:t>
            </a:r>
            <a:br>
              <a:rPr lang="en-IN" b="1" dirty="0"/>
            </a:br>
            <a:endParaRPr lang="en-IN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F8443-2EA1-F784-2D78-8047024EAD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0092" y="2101174"/>
            <a:ext cx="6835303" cy="4124528"/>
          </a:xfrm>
        </p:spPr>
        <p:txBody>
          <a:bodyPr>
            <a:normAutofit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eligible voters to register in the system.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Collects basic voter details and login credentials.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a unique voter ID for each voter.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Verifies the voter before allowing access.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duplicate voter registration.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that only authorized voters can vote.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E9FC95-1C9E-E13D-34C6-1B85BF1EF0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66" y="341214"/>
            <a:ext cx="1030665" cy="1033242"/>
          </a:xfrm>
          <a:prstGeom prst="rect">
            <a:avLst/>
          </a:prstGeom>
        </p:spPr>
      </p:pic>
      <p:pic>
        <p:nvPicPr>
          <p:cNvPr id="7" name="Picture 6" descr="A blue and green logo&#10;&#10;AI-generated content may be incorrect.">
            <a:extLst>
              <a:ext uri="{FF2B5EF4-FFF2-40B4-BE49-F238E27FC236}">
                <a16:creationId xmlns:a16="http://schemas.microsoft.com/office/drawing/2014/main" id="{23403A48-2038-7624-DDCA-F7A917ABDF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1342" y="274021"/>
            <a:ext cx="1185747" cy="11676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1E7A756-35DE-701C-33A6-F70E7C3292D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4902" b="73192"/>
          <a:stretch>
            <a:fillRect/>
          </a:stretch>
        </p:blipFill>
        <p:spPr>
          <a:xfrm>
            <a:off x="7665395" y="2358794"/>
            <a:ext cx="3920635" cy="2791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61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8C60B-8E84-CF10-154D-FBBA72B09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1251" y="365125"/>
            <a:ext cx="8764622" cy="1325563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 :</a:t>
            </a:r>
            <a:r>
              <a:rPr lang="en-IN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RSA-BASED VOTE ENCRYPTION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D741E-1962-0F48-83AF-BED4A8BD0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2183" y="2232641"/>
            <a:ext cx="7021749" cy="4351338"/>
          </a:xfrm>
        </p:spPr>
        <p:txBody>
          <a:bodyPr>
            <a:normAutofit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voter selects a candidate and casts the vote.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vote is converted into digital data.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RSA encryption is applied to the vote.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public key is used to encrypt the vote.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encrypted vote cannot be read directly by others.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ensures vote confidentiality and security.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C450F7-E423-0D19-E768-F0A79AEB5A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66" y="341214"/>
            <a:ext cx="1030665" cy="1033242"/>
          </a:xfrm>
          <a:prstGeom prst="rect">
            <a:avLst/>
          </a:prstGeom>
        </p:spPr>
      </p:pic>
      <p:pic>
        <p:nvPicPr>
          <p:cNvPr id="9" name="Picture 8" descr="A blue and green logo&#10;&#10;AI-generated content may be incorrect.">
            <a:extLst>
              <a:ext uri="{FF2B5EF4-FFF2-40B4-BE49-F238E27FC236}">
                <a16:creationId xmlns:a16="http://schemas.microsoft.com/office/drawing/2014/main" id="{27FB173D-CFBB-574E-0078-E761EC3CCF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1342" y="274021"/>
            <a:ext cx="1185747" cy="11676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B7F055-2FD1-074F-EE7C-F873F65F651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6667" r="74838" b="48652"/>
          <a:stretch>
            <a:fillRect/>
          </a:stretch>
        </p:blipFill>
        <p:spPr>
          <a:xfrm>
            <a:off x="77891" y="2655651"/>
            <a:ext cx="4611461" cy="301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732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A3276-F4CF-94A1-242A-4C765361B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7861" y="595781"/>
            <a:ext cx="8966551" cy="1033242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3:</a:t>
            </a:r>
            <a:r>
              <a:rPr lang="en-IN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DIGITAL SIGNATURE VERIFICATION</a:t>
            </a:r>
            <a:br>
              <a:rPr lang="en-IN" b="1" dirty="0"/>
            </a:br>
            <a:endParaRPr lang="en-IN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0CCAE-F989-41F3-6D4D-C2475F27B8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826" y="2088272"/>
            <a:ext cx="6982838" cy="4351338"/>
          </a:xfrm>
        </p:spPr>
        <p:txBody>
          <a:bodyPr>
            <a:normAutofit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signatures verify the identity of the voter.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vote is checked for authenticity.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verifies that the vote is not modified.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Invalid or tampered votes are rejected.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ensures vote integrity and authenticity.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verified votes are accepted for counting.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125677-84C1-CD5B-833B-FDD42710D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66" y="341214"/>
            <a:ext cx="1030665" cy="1033242"/>
          </a:xfrm>
          <a:prstGeom prst="rect">
            <a:avLst/>
          </a:prstGeom>
        </p:spPr>
      </p:pic>
      <p:pic>
        <p:nvPicPr>
          <p:cNvPr id="7" name="Picture 6" descr="A blue and green logo&#10;&#10;AI-generated content may be incorrect.">
            <a:extLst>
              <a:ext uri="{FF2B5EF4-FFF2-40B4-BE49-F238E27FC236}">
                <a16:creationId xmlns:a16="http://schemas.microsoft.com/office/drawing/2014/main" id="{72829234-81C4-9002-0C6D-BDC17A71BD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1342" y="274021"/>
            <a:ext cx="1185747" cy="11676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7510CC6-F7A0-08B9-9B52-8D09FDA71C1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878" t="26241" r="50158" b="48795"/>
          <a:stretch>
            <a:fillRect/>
          </a:stretch>
        </p:blipFill>
        <p:spPr>
          <a:xfrm>
            <a:off x="7548664" y="2697786"/>
            <a:ext cx="4153735" cy="276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020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E6269-93C1-5AE0-563E-38B0227BB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6D877-C23C-ABBF-7550-88787785C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9072" y="365125"/>
            <a:ext cx="8725711" cy="1325563"/>
          </a:xfrm>
        </p:spPr>
        <p:txBody>
          <a:bodyPr>
            <a:noAutofit/>
          </a:bodyPr>
          <a:lstStyle/>
          <a:p>
            <a:pPr algn="ctr"/>
            <a:r>
              <a:rPr lang="en-GB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MODULE 4 : </a:t>
            </a:r>
            <a:r>
              <a:rPr lang="en-IN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VOTE COUNTING &amp; RESULT ANALYSIS</a:t>
            </a:r>
            <a:endParaRPr lang="en-GB" sz="36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95B1D6-BAC1-FA93-C80C-65E42A6083BD}"/>
              </a:ext>
            </a:extLst>
          </p:cNvPr>
          <p:cNvSpPr txBox="1"/>
          <p:nvPr/>
        </p:nvSpPr>
        <p:spPr>
          <a:xfrm>
            <a:off x="3047189" y="3244334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6853546-C206-A635-1855-1AAC3321B2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5166" y="2214801"/>
            <a:ext cx="7536834" cy="4351338"/>
          </a:xfrm>
        </p:spPr>
        <p:txBody>
          <a:bodyPr>
            <a:normAutofit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valid and verified votes are considered.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Encrypted votes are securely processed for counting.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Votes are counted for each candidate.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calculates the total votes received.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are generated automatically.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candidate with the highest votes is declared the winner.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F369F29-CD5E-FE78-4EBD-CB039A257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15" y="278756"/>
            <a:ext cx="1123719" cy="1095700"/>
          </a:xfrm>
          <a:prstGeom prst="rect">
            <a:avLst/>
          </a:prstGeom>
        </p:spPr>
      </p:pic>
      <p:pic>
        <p:nvPicPr>
          <p:cNvPr id="11" name="Picture 10" descr="A blue and green logo&#10;&#10;AI-generated content may be incorrect.">
            <a:extLst>
              <a:ext uri="{FF2B5EF4-FFF2-40B4-BE49-F238E27FC236}">
                <a16:creationId xmlns:a16="http://schemas.microsoft.com/office/drawing/2014/main" id="{FF8E4A34-1CF7-A9BD-768E-ACA6FFDF03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3938" y="206829"/>
            <a:ext cx="1185747" cy="11676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276B52-6B2A-F14E-DF58-9942D96F824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9086" t="26383" r="24437" b="48794"/>
          <a:stretch>
            <a:fillRect/>
          </a:stretch>
        </p:blipFill>
        <p:spPr>
          <a:xfrm>
            <a:off x="410993" y="2541181"/>
            <a:ext cx="4124529" cy="2577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768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2F027-8A2C-58EA-BAD4-712D24737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22B67-F37D-910C-FA17-E2210038B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759" y="414335"/>
            <a:ext cx="9166754" cy="886997"/>
          </a:xfrm>
        </p:spPr>
        <p:txBody>
          <a:bodyPr>
            <a:noAutofit/>
          </a:bodyPr>
          <a:lstStyle/>
          <a:p>
            <a:pPr algn="ctr"/>
            <a:r>
              <a:rPr lang="en-GB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 USED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867557-DD0E-E89B-08C9-47DFB788C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66" y="341214"/>
            <a:ext cx="1030665" cy="1033242"/>
          </a:xfrm>
          <a:prstGeom prst="rect">
            <a:avLst/>
          </a:prstGeom>
        </p:spPr>
      </p:pic>
      <p:pic>
        <p:nvPicPr>
          <p:cNvPr id="6" name="Picture 5" descr="A blue and green logo&#10;&#10;AI-generated content may be incorrect.">
            <a:extLst>
              <a:ext uri="{FF2B5EF4-FFF2-40B4-BE49-F238E27FC236}">
                <a16:creationId xmlns:a16="http://schemas.microsoft.com/office/drawing/2014/main" id="{ADC109BC-8D61-4E59-FBB8-F647406A03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1342" y="274021"/>
            <a:ext cx="1185747" cy="116762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3A519CF-822F-3EE5-C005-4B35F7053689}"/>
              </a:ext>
            </a:extLst>
          </p:cNvPr>
          <p:cNvSpPr txBox="1"/>
          <p:nvPr/>
        </p:nvSpPr>
        <p:spPr>
          <a:xfrm>
            <a:off x="4756825" y="2201145"/>
            <a:ext cx="709146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Backend development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Web application framework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Web page structure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User interface design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User interaction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SQLite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Database management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RSA Algorithm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Vote encryption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Signature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Authentication and verification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83EE565-3CA4-1B80-2ABF-762C38677F1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4897" t="27121" r="-352" b="47987"/>
          <a:stretch>
            <a:fillRect/>
          </a:stretch>
        </p:blipFill>
        <p:spPr>
          <a:xfrm>
            <a:off x="343711" y="2561067"/>
            <a:ext cx="4397828" cy="2866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169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C87CF-43BA-F064-090C-2B853BFE3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CCE20-5C30-689A-13AE-F741388BE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4656" y="409307"/>
            <a:ext cx="8782687" cy="886997"/>
          </a:xfrm>
        </p:spPr>
        <p:txBody>
          <a:bodyPr>
            <a:normAutofit/>
          </a:bodyPr>
          <a:lstStyle/>
          <a:p>
            <a:pPr algn="ctr"/>
            <a:r>
              <a:rPr lang="en-GB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SECURITY FEATURES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03AD2F-C858-F3AF-F351-7D00A09978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66" y="409307"/>
            <a:ext cx="1030665" cy="1033242"/>
          </a:xfrm>
          <a:prstGeom prst="rect">
            <a:avLst/>
          </a:prstGeom>
        </p:spPr>
      </p:pic>
      <p:pic>
        <p:nvPicPr>
          <p:cNvPr id="6" name="Picture 5" descr="A blue and green logo&#10;&#10;AI-generated content may be incorrect.">
            <a:extLst>
              <a:ext uri="{FF2B5EF4-FFF2-40B4-BE49-F238E27FC236}">
                <a16:creationId xmlns:a16="http://schemas.microsoft.com/office/drawing/2014/main" id="{F411DF4E-5FA9-7110-40F0-BD35BFBADF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1342" y="342114"/>
            <a:ext cx="1185747" cy="116762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65F2DED-89A8-CCFB-8EF9-FE137A2207CD}"/>
              </a:ext>
            </a:extLst>
          </p:cNvPr>
          <p:cNvSpPr txBox="1"/>
          <p:nvPr/>
        </p:nvSpPr>
        <p:spPr>
          <a:xfrm>
            <a:off x="437581" y="2539798"/>
            <a:ext cx="7412873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registered voters can access the system.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voter is allowed to vote only once.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RSA encryption protects vote confidentiality.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signatures verify voter authenticity.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Vote tampering can be detected and prevented.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Encrypted votes are stored securely.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valid votes are considered for counting.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9167E33-F9E9-35C3-4F07-54C192EEFDA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0000" r="74366" b="23262"/>
          <a:stretch>
            <a:fillRect/>
          </a:stretch>
        </p:blipFill>
        <p:spPr>
          <a:xfrm>
            <a:off x="7685084" y="2606990"/>
            <a:ext cx="4372233" cy="3040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154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3BFAC-B16E-E2D6-C684-C9A9C8738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2264" y="365126"/>
            <a:ext cx="8103140" cy="1033242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56FD7-7B65-1E79-57E7-F568D156BB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8859" y="2141536"/>
            <a:ext cx="8103141" cy="4351338"/>
          </a:xfrm>
        </p:spPr>
        <p:txBody>
          <a:bodyPr/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Voters can register and access the system securely.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authorized voters can cast their votes.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Votes are successfully protected using RSA encryption.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signatures verify the authenticity of votes.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and invalid votes are prevented.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 votes are counted accurately.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generates secure and reliable election results.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308E9E-9C4B-AB2A-E25C-98205A54B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66" y="409307"/>
            <a:ext cx="1030665" cy="1033242"/>
          </a:xfrm>
          <a:prstGeom prst="rect">
            <a:avLst/>
          </a:prstGeom>
        </p:spPr>
      </p:pic>
      <p:pic>
        <p:nvPicPr>
          <p:cNvPr id="7" name="Picture 6" descr="A blue and green logo&#10;&#10;AI-generated content may be incorrect.">
            <a:extLst>
              <a:ext uri="{FF2B5EF4-FFF2-40B4-BE49-F238E27FC236}">
                <a16:creationId xmlns:a16="http://schemas.microsoft.com/office/drawing/2014/main" id="{4FC75D0D-03D2-4475-8C3A-603DE5C047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1342" y="342114"/>
            <a:ext cx="1185747" cy="11676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3CEC426-A2BD-4135-CF1F-F5D63C5B48E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689" t="50000" r="50000" b="23262"/>
          <a:stretch>
            <a:fillRect/>
          </a:stretch>
        </p:blipFill>
        <p:spPr>
          <a:xfrm>
            <a:off x="0" y="2677537"/>
            <a:ext cx="4007796" cy="2822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0034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AEE12-4796-B625-F748-9E4DEE73C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B7DFC-9900-0D7C-8BFC-1E3F5B209E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505" y="2141537"/>
            <a:ext cx="7780506" cy="4351338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a secure and reliable online voting process.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Voter registration ensures only authorized users can vote.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RSA encryption protects the confidentiality of votes.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signatures ensure vote authenticity and integrity.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and unauthorized voting can be prevented.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securely counts votes and generates accurate results.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cryptography improves the security and reliability of online voting.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blue and green logo&#10;&#10;AI-generated content may be incorrect.">
            <a:extLst>
              <a:ext uri="{FF2B5EF4-FFF2-40B4-BE49-F238E27FC236}">
                <a16:creationId xmlns:a16="http://schemas.microsoft.com/office/drawing/2014/main" id="{D9C50EA9-2940-F834-ADAD-F5FE6260A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3938" y="206829"/>
            <a:ext cx="1185747" cy="11676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040D81-06B5-EB88-309A-A80EDD3B55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266" y="409307"/>
            <a:ext cx="1030665" cy="10332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AC279F8-8DFB-9F34-8288-953EFFFAAE2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9275" t="50000" r="24626" b="23830"/>
          <a:stretch>
            <a:fillRect/>
          </a:stretch>
        </p:blipFill>
        <p:spPr>
          <a:xfrm>
            <a:off x="8222952" y="2998549"/>
            <a:ext cx="3969048" cy="2653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6082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75167-C2E1-D3D7-549D-FE990D6E2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1251" y="365125"/>
            <a:ext cx="8939720" cy="1325563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62459-7E81-21BF-32AD-AAAA9EC07A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2728" y="2141537"/>
            <a:ext cx="7157936" cy="4351338"/>
          </a:xfrm>
        </p:spPr>
        <p:txBody>
          <a:bodyPr/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biometric authentication for voters.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OTP-based verification.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blockchain for more secure vote storage.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mobile application for voting.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multi-factor authentication.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scalability for large-scale elections.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real-time security monitoring.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4DD0EF-70C6-17DA-4756-E1E112DE6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66" y="409307"/>
            <a:ext cx="1030665" cy="1033242"/>
          </a:xfrm>
          <a:prstGeom prst="rect">
            <a:avLst/>
          </a:prstGeom>
        </p:spPr>
      </p:pic>
      <p:pic>
        <p:nvPicPr>
          <p:cNvPr id="7" name="Picture 6" descr="A blue and green logo&#10;&#10;AI-generated content may be incorrect.">
            <a:extLst>
              <a:ext uri="{FF2B5EF4-FFF2-40B4-BE49-F238E27FC236}">
                <a16:creationId xmlns:a16="http://schemas.microsoft.com/office/drawing/2014/main" id="{045B504E-2CAE-85F3-E02C-4D984BBD0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3938" y="206829"/>
            <a:ext cx="1185747" cy="11676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137C32B-B0BE-00F1-1E67-3033898F37C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4429" t="50000" b="23262"/>
          <a:stretch>
            <a:fillRect/>
          </a:stretch>
        </p:blipFill>
        <p:spPr>
          <a:xfrm>
            <a:off x="447472" y="2512167"/>
            <a:ext cx="4057421" cy="282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8244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9E59E-0FB1-2ABD-4E36-F931B627E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REFERENCES</a:t>
            </a:r>
            <a:endParaRPr lang="en-IN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04DBF-F165-EE47-816A-19147FD7FB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34870"/>
            <a:ext cx="10515599" cy="4916301"/>
          </a:xfrm>
        </p:spPr>
        <p:txBody>
          <a:bodyPr>
            <a:normAutofit fontScale="77500" lnSpcReduction="20000"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IN" dirty="0"/>
              <a:t>Thakur, G., </a:t>
            </a:r>
            <a:r>
              <a:rPr lang="en-IN" dirty="0" err="1"/>
              <a:t>Chouksey</a:t>
            </a:r>
            <a:r>
              <a:rPr lang="en-IN" dirty="0"/>
              <a:t>, P., Chopra, M., &amp; </a:t>
            </a:r>
            <a:r>
              <a:rPr lang="en-IN" dirty="0" err="1"/>
              <a:t>Sadotra</a:t>
            </a:r>
            <a:r>
              <a:rPr lang="en-IN" dirty="0"/>
              <a:t>, P. (2025). </a:t>
            </a:r>
            <a:r>
              <a:rPr lang="en-IN" i="1" dirty="0"/>
              <a:t>Fortifying e-voting systems: Integrating visual cryptography with ECC and ChaCha20-Poly1305 for enhanced security</a:t>
            </a:r>
            <a:r>
              <a:rPr lang="en-IN" dirty="0"/>
              <a:t>. </a:t>
            </a:r>
            <a:r>
              <a:rPr lang="en-IN" b="1" dirty="0"/>
              <a:t>Journal of Communications Software and Systems, 21</a:t>
            </a:r>
            <a:r>
              <a:rPr lang="en-IN" dirty="0"/>
              <a:t>(4), 427–435. https://doi.org/10.24138/jcomss-2025-0135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dirty="0" err="1"/>
              <a:t>Kraavi</a:t>
            </a:r>
            <a:r>
              <a:rPr lang="en-IN" dirty="0"/>
              <a:t>, T., &amp; </a:t>
            </a:r>
            <a:r>
              <a:rPr lang="en-IN" dirty="0" err="1"/>
              <a:t>Willemson</a:t>
            </a:r>
            <a:r>
              <a:rPr lang="en-IN" dirty="0"/>
              <a:t>, J. (2025). </a:t>
            </a:r>
            <a:r>
              <a:rPr lang="en-IN" i="1" dirty="0"/>
              <a:t>Proving vote correctness in the IVXV internet voting system</a:t>
            </a:r>
            <a:r>
              <a:rPr lang="en-IN" dirty="0"/>
              <a:t>. </a:t>
            </a:r>
            <a:r>
              <a:rPr lang="en-IN" b="1" dirty="0"/>
              <a:t>Scientific Reports, 15</a:t>
            </a:r>
            <a:r>
              <a:rPr lang="en-IN" dirty="0"/>
              <a:t>, Article 31793. </a:t>
            </a:r>
            <a:r>
              <a:rPr lang="en-IN" dirty="0">
                <a:hlinkClick r:id="rId2"/>
              </a:rPr>
              <a:t>https://doi.org/10.1038/s41598-025-16764-1</a:t>
            </a:r>
            <a:r>
              <a:rPr lang="en-IN" dirty="0"/>
              <a:t>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dirty="0"/>
              <a:t>Kho, Y.-X., Heng, S.-H., Tan, S.-Y., &amp; Chin, J.-J. (2025). </a:t>
            </a:r>
            <a:r>
              <a:rPr lang="en-IN" i="1" dirty="0"/>
              <a:t>A provably secure coercion-resistant e-voting scheme with confidentiality, anonymity, unforgeability, and CAI verifiability</a:t>
            </a:r>
            <a:r>
              <a:rPr lang="en-IN" dirty="0"/>
              <a:t>. </a:t>
            </a:r>
            <a:r>
              <a:rPr lang="en-IN" b="1" dirty="0"/>
              <a:t>PLOS ONE</a:t>
            </a:r>
            <a:r>
              <a:rPr lang="en-IN" dirty="0"/>
              <a:t>. </a:t>
            </a:r>
            <a:r>
              <a:rPr lang="en-IN" dirty="0">
                <a:hlinkClick r:id="rId3"/>
              </a:rPr>
              <a:t>https://doi.org/10.1371/journal.pone.0324182</a:t>
            </a:r>
            <a:r>
              <a:rPr lang="en-IN" dirty="0"/>
              <a:t>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dirty="0"/>
              <a:t>Rahman, T. A., </a:t>
            </a:r>
            <a:r>
              <a:rPr lang="en-IN" dirty="0" err="1"/>
              <a:t>Muztahid</a:t>
            </a:r>
            <a:r>
              <a:rPr lang="en-IN" dirty="0"/>
              <a:t>, M., </a:t>
            </a:r>
            <a:r>
              <a:rPr lang="en-IN" dirty="0" err="1"/>
              <a:t>Nobo</a:t>
            </a:r>
            <a:r>
              <a:rPr lang="en-IN" dirty="0"/>
              <a:t>, D. K. R., &amp; Hakim, S. A. (2025). </a:t>
            </a:r>
            <a:r>
              <a:rPr lang="en-IN" i="1" dirty="0" err="1"/>
              <a:t>AmarVote</a:t>
            </a:r>
            <a:r>
              <a:rPr lang="en-IN" i="1" dirty="0"/>
              <a:t>: A web-based </a:t>
            </a:r>
            <a:r>
              <a:rPr lang="en-IN" i="1" dirty="0" err="1"/>
              <a:t>ElectionGuard</a:t>
            </a:r>
            <a:r>
              <a:rPr lang="en-IN" i="1" dirty="0"/>
              <a:t> system with post-quantum guardian key protection and blockchain auditing</a:t>
            </a:r>
            <a:r>
              <a:rPr lang="en-IN" dirty="0"/>
              <a:t>. In </a:t>
            </a:r>
            <a:r>
              <a:rPr lang="en-IN" b="1" dirty="0"/>
              <a:t>Proceedings of the 12th International Conference on Next Generation Computing, Communication, Systems and Security</a:t>
            </a:r>
            <a:r>
              <a:rPr lang="en-IN" dirty="0"/>
              <a:t> (pp. 115–119). </a:t>
            </a:r>
            <a:r>
              <a:rPr lang="en-IN" dirty="0">
                <a:hlinkClick r:id="rId4"/>
              </a:rPr>
              <a:t>https://doi.org/10.1145/3777555.3777570</a:t>
            </a:r>
            <a:r>
              <a:rPr lang="en-IN" dirty="0"/>
              <a:t>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dirty="0" err="1"/>
              <a:t>Alsuwat</a:t>
            </a:r>
            <a:r>
              <a:rPr lang="en-IN" dirty="0"/>
              <a:t>, E. (2026). </a:t>
            </a:r>
            <a:r>
              <a:rPr lang="en-IN" i="1" dirty="0"/>
              <a:t>Secure electronic voting system based on blockchain with </a:t>
            </a:r>
            <a:r>
              <a:rPr lang="en-IN" i="1" dirty="0" err="1"/>
              <a:t>Dilithium</a:t>
            </a:r>
            <a:r>
              <a:rPr lang="en-IN" i="1" dirty="0"/>
              <a:t> authentication and zero-knowledge proof verification</a:t>
            </a:r>
            <a:r>
              <a:rPr lang="en-IN" dirty="0"/>
              <a:t>. </a:t>
            </a:r>
            <a:r>
              <a:rPr lang="en-IN" b="1" dirty="0"/>
              <a:t>Scientific Reports</a:t>
            </a:r>
            <a:r>
              <a:rPr lang="en-IN" dirty="0"/>
              <a:t>. https://doi.org/10.1038/s41598-026-62925-1</a:t>
            </a:r>
          </a:p>
          <a:p>
            <a:pPr marL="514350" indent="-514350">
              <a:buFont typeface="+mj-lt"/>
              <a:buAutoNum type="arabicPeriod"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1D0D57-2188-F7FE-68C8-1E0003DAFD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266" y="409307"/>
            <a:ext cx="1030665" cy="1033242"/>
          </a:xfrm>
          <a:prstGeom prst="rect">
            <a:avLst/>
          </a:prstGeom>
        </p:spPr>
      </p:pic>
      <p:pic>
        <p:nvPicPr>
          <p:cNvPr id="7" name="Picture 6" descr="A blue and green logo&#10;&#10;AI-generated content may be incorrect.">
            <a:extLst>
              <a:ext uri="{FF2B5EF4-FFF2-40B4-BE49-F238E27FC236}">
                <a16:creationId xmlns:a16="http://schemas.microsoft.com/office/drawing/2014/main" id="{677C7626-4B36-762D-1150-CEBFD1C0E7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23938" y="206829"/>
            <a:ext cx="1185747" cy="1167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1077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6C4F8-87A9-7D88-21E9-0EA050276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528D96C3-82AA-7B5F-F37E-EAA283192D0E}"/>
              </a:ext>
            </a:extLst>
          </p:cNvPr>
          <p:cNvSpPr/>
          <p:nvPr/>
        </p:nvSpPr>
        <p:spPr>
          <a:xfrm>
            <a:off x="661492" y="1959471"/>
            <a:ext cx="1086901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endParaRPr lang="en-US" sz="1458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255B3E2-C6A8-AF0C-938F-2CBF47F60637}"/>
              </a:ext>
            </a:extLst>
          </p:cNvPr>
          <p:cNvSpPr/>
          <p:nvPr/>
        </p:nvSpPr>
        <p:spPr>
          <a:xfrm>
            <a:off x="661492" y="2474516"/>
            <a:ext cx="1086901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endParaRPr lang="en-US" sz="1458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C4C6D9F-F7A4-F9CB-FE5A-F2AD0F4F5993}"/>
              </a:ext>
            </a:extLst>
          </p:cNvPr>
          <p:cNvSpPr/>
          <p:nvPr/>
        </p:nvSpPr>
        <p:spPr>
          <a:xfrm>
            <a:off x="661492" y="2989561"/>
            <a:ext cx="1086901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endParaRPr lang="en-US" sz="1458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ED9462D-FB62-A946-9A4E-B8BD595B7D7F}"/>
              </a:ext>
            </a:extLst>
          </p:cNvPr>
          <p:cNvSpPr/>
          <p:nvPr/>
        </p:nvSpPr>
        <p:spPr>
          <a:xfrm>
            <a:off x="661492" y="3504606"/>
            <a:ext cx="1086901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endParaRPr lang="en-US" sz="1458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B4F7A87-5747-48AA-6A30-A6D6FFC0F8B7}"/>
              </a:ext>
            </a:extLst>
          </p:cNvPr>
          <p:cNvSpPr/>
          <p:nvPr/>
        </p:nvSpPr>
        <p:spPr>
          <a:xfrm>
            <a:off x="661492" y="4019650"/>
            <a:ext cx="1086901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endParaRPr lang="en-US" sz="1458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AE48F4E-2F5F-6598-136E-B711114CA893}"/>
              </a:ext>
            </a:extLst>
          </p:cNvPr>
          <p:cNvSpPr/>
          <p:nvPr/>
        </p:nvSpPr>
        <p:spPr>
          <a:xfrm>
            <a:off x="661492" y="4534695"/>
            <a:ext cx="1086901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endParaRPr lang="en-US" sz="1458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1F3EDC1-5026-2947-712F-69C04240A988}"/>
              </a:ext>
            </a:extLst>
          </p:cNvPr>
          <p:cNvSpPr/>
          <p:nvPr/>
        </p:nvSpPr>
        <p:spPr>
          <a:xfrm>
            <a:off x="661492" y="5049739"/>
            <a:ext cx="1086901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endParaRPr lang="en-US" sz="1458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7F68375-9528-4E93-4679-8661E7046120}"/>
              </a:ext>
            </a:extLst>
          </p:cNvPr>
          <p:cNvSpPr/>
          <p:nvPr/>
        </p:nvSpPr>
        <p:spPr>
          <a:xfrm>
            <a:off x="661492" y="5564783"/>
            <a:ext cx="1086901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endParaRPr lang="en-US" sz="1458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73F0E90-1EC8-FCF3-CEB0-8FE1761296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3663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789</TotalTime>
  <Words>1092</Words>
  <Application>Microsoft Office PowerPoint</Application>
  <PresentationFormat>Widescreen</PresentationFormat>
  <Paragraphs>127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Times New Roman</vt:lpstr>
      <vt:lpstr>Wingdings</vt:lpstr>
      <vt:lpstr>office theme</vt:lpstr>
      <vt:lpstr>  CSA5115-CRYPTOGRAPHY NETWORK SECURITY</vt:lpstr>
      <vt:lpstr>INTRODUCTION</vt:lpstr>
      <vt:lpstr>PROBLEM STATEMENT</vt:lpstr>
      <vt:lpstr>OBJECTIVE</vt:lpstr>
      <vt:lpstr>SYSTEM OVERVIEW </vt:lpstr>
      <vt:lpstr>ARCHITECTURE DIAGRAM</vt:lpstr>
      <vt:lpstr>SYSTEM WORKFLOW</vt:lpstr>
      <vt:lpstr>MODULE 1 :VOTER REGISTRATION </vt:lpstr>
      <vt:lpstr>MODULE 2 :RSA-BASED VOTE ENCRYPTION</vt:lpstr>
      <vt:lpstr>MODULE 3:DIGITAL SIGNATURE VERIFICATION </vt:lpstr>
      <vt:lpstr>MODULE 4 : VOTE COUNTING &amp; RESULT ANALYSIS</vt:lpstr>
      <vt:lpstr>TOOLS &amp; TECHNOLOGIES USED</vt:lpstr>
      <vt:lpstr>SECURITY FEATURES</vt:lpstr>
      <vt:lpstr>RESULTS</vt:lpstr>
      <vt:lpstr>CONCLUSION</vt:lpstr>
      <vt:lpstr>FUTURE ENHANCEMENTS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VISUALIZATION OF SOCIAL NETWORKS USING HAMILTONIAN PATHS</dc:title>
  <dc:creator>Rupesh .I</dc:creator>
  <cp:lastModifiedBy>NISHANTHYADAV547@outlook.com</cp:lastModifiedBy>
  <cp:revision>342</cp:revision>
  <dcterms:created xsi:type="dcterms:W3CDTF">2025-10-12T07:57:04Z</dcterms:created>
  <dcterms:modified xsi:type="dcterms:W3CDTF">2026-08-28T09:57:13Z</dcterms:modified>
</cp:coreProperties>
</file>